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100" d="100"/>
          <a:sy n="100" d="100"/>
        </p:scale>
        <p:origin x="58" y="-1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938463736"/>
              </p:ext>
            </p:extLst>
          </p:nvPr>
        </p:nvGraphicFramePr>
        <p:xfrm>
          <a:off x="1299257" y="2600315"/>
          <a:ext cx="9394989" cy="1980647"/>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39298">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041349">
                <a:tc>
                  <a:txBody>
                    <a:bodyPr/>
                    <a:lstStyle/>
                    <a:p>
                      <a:pPr marL="0" marR="0" lvl="0" indent="0" algn="l" rtl="0">
                        <a:spcBef>
                          <a:spcPts val="0"/>
                        </a:spcBef>
                        <a:spcAft>
                          <a:spcPts val="0"/>
                        </a:spcAft>
                        <a:buNone/>
                      </a:pPr>
                      <a:r>
                        <a:rPr lang="en-US" dirty="0"/>
                        <a:t>Yerubandi Yagna Nagendra Pradhamesh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yerubandistkpv@gmail.com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739699471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262433" y="3623559"/>
            <a:ext cx="677979"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[Agriculture]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Title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Smart Farming Advisor</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47645"/>
          </a:xfrm>
          <a:prstGeom prst="rect">
            <a:avLst/>
          </a:prstGeom>
          <a:noFill/>
        </p:spPr>
        <p:txBody>
          <a:bodyPr wrap="square" rtlCol="0">
            <a:spAutoFit/>
          </a:bodyPr>
          <a:lstStyle/>
          <a:p>
            <a:pPr fontAlgn="base"/>
            <a:r>
              <a:rPr lang="en-US" b="1" dirty="0"/>
              <a:t>Problem Statement : AI Agent for Smart Farming Advice</a:t>
            </a:r>
            <a:endParaRPr lang="en-US" dirty="0"/>
          </a:p>
          <a:p>
            <a:pPr fontAlgn="base"/>
            <a:endParaRPr lang="en-US" b="1" dirty="0"/>
          </a:p>
          <a:p>
            <a:pPr fontAlgn="base"/>
            <a:r>
              <a:rPr lang="en-US" b="1" dirty="0"/>
              <a:t>The Challenge</a:t>
            </a:r>
            <a:r>
              <a:rPr lang="en-US" dirty="0"/>
              <a:t> </a:t>
            </a:r>
          </a:p>
          <a:p>
            <a:pPr fontAlgn="base"/>
            <a:r>
              <a:rPr lang="en-US" sz="1200" dirty="0"/>
              <a:t>An AI Agent for Smart Farming Advice, powered by RAG (Retrieval-Augmented Generation), supports small-scale farmers by delivering real-time, localized agricultural guidance.</a:t>
            </a:r>
          </a:p>
          <a:p>
            <a:pPr fontAlgn="base"/>
            <a:r>
              <a:rPr lang="en-US" sz="1200" dirty="0"/>
              <a:t>It retrieves trusted data on weather forecasts, soil conditions, crop recommendations, pest control measures, and current market prices from agricultural departments, meteorological sources, and agri-tech platforms.</a:t>
            </a:r>
          </a:p>
          <a:p>
            <a:pPr fontAlgn="base"/>
            <a:endParaRPr lang="en-US" b="1" dirty="0"/>
          </a:p>
          <a:p>
            <a:pPr fontAlgn="base"/>
            <a:r>
              <a:rPr lang="en-US" b="1" dirty="0"/>
              <a:t>The Objective</a:t>
            </a:r>
            <a:r>
              <a:rPr lang="en-US" dirty="0"/>
              <a:t> </a:t>
            </a:r>
          </a:p>
          <a:p>
            <a:pPr fontAlgn="base"/>
            <a:r>
              <a:rPr lang="en-US" sz="1200" dirty="0"/>
              <a:t>You are Smart Farming AI Advisor.</a:t>
            </a:r>
          </a:p>
          <a:p>
            <a:pPr fontAlgn="base"/>
            <a:r>
              <a:rPr lang="en-US" sz="1200" dirty="0"/>
              <a:t>Help farmers make informed decisions.</a:t>
            </a:r>
          </a:p>
          <a:p>
            <a:pPr fontAlgn="base"/>
            <a:r>
              <a:rPr lang="en-US" sz="1200" dirty="0"/>
              <a:t>Collect:</a:t>
            </a:r>
          </a:p>
          <a:p>
            <a:pPr fontAlgn="base"/>
            <a:r>
              <a:rPr lang="en-US" sz="1200" dirty="0"/>
              <a:t>1. Location</a:t>
            </a:r>
          </a:p>
          <a:p>
            <a:pPr fontAlgn="base"/>
            <a:r>
              <a:rPr lang="en-US" sz="1200" dirty="0"/>
              <a:t>2. Crop Name</a:t>
            </a:r>
          </a:p>
          <a:p>
            <a:pPr fontAlgn="base"/>
            <a:r>
              <a:rPr lang="en-US" sz="1200" dirty="0"/>
              <a:t>3. Soil Type</a:t>
            </a:r>
          </a:p>
          <a:p>
            <a:pPr fontAlgn="base"/>
            <a:r>
              <a:rPr lang="en-US" sz="1200" dirty="0"/>
              <a:t>4. Season</a:t>
            </a:r>
          </a:p>
          <a:p>
            <a:pPr fontAlgn="base"/>
            <a:r>
              <a:rPr lang="en-US" sz="1200" dirty="0"/>
              <a:t>Use information from agricultural documents.</a:t>
            </a:r>
          </a:p>
          <a:p>
            <a:pPr fontAlgn="base"/>
            <a:r>
              <a:rPr lang="en-US" sz="1200" dirty="0"/>
              <a:t>Provide:</a:t>
            </a:r>
          </a:p>
          <a:p>
            <a:pPr fontAlgn="base"/>
            <a:r>
              <a:rPr lang="en-US" sz="1200" dirty="0"/>
              <a:t>1.Suitable Crops</a:t>
            </a:r>
          </a:p>
          <a:p>
            <a:pPr fontAlgn="base"/>
            <a:r>
              <a:rPr lang="en-US" sz="1200" dirty="0"/>
              <a:t>2.Fertilizer Advice</a:t>
            </a:r>
          </a:p>
          <a:p>
            <a:pPr fontAlgn="base"/>
            <a:r>
              <a:rPr lang="en-US" sz="1200" dirty="0"/>
              <a:t>3.Pest Management</a:t>
            </a:r>
          </a:p>
          <a:p>
            <a:pPr fontAlgn="base"/>
            <a:r>
              <a:rPr lang="en-US" sz="1200" dirty="0"/>
              <a:t>4.Irrigation Guidance</a:t>
            </a:r>
          </a:p>
          <a:p>
            <a:pPr fontAlgn="base"/>
            <a:r>
              <a:rPr lang="en-US" sz="1200" dirty="0"/>
              <a:t>5.Harvesting Tips</a:t>
            </a:r>
          </a:p>
          <a:p>
            <a:pPr fontAlgn="base"/>
            <a:r>
              <a:rPr lang="en-US" sz="1200" dirty="0"/>
              <a:t>6.Market Suggestions</a:t>
            </a:r>
          </a:p>
          <a:p>
            <a:pPr fontAlgn="base"/>
            <a:r>
              <a:rPr lang="en-US" sz="1200" dirty="0"/>
              <a:t>Use simple farmer-friendly language.</a:t>
            </a:r>
          </a:p>
          <a:p>
            <a:pPr fontAlgn="base"/>
            <a:r>
              <a:rPr lang="en-US" sz="1200" dirty="0"/>
              <a:t>Ask follow-up questions if information is missing.</a:t>
            </a:r>
          </a:p>
          <a:p>
            <a:pPr fontAlgn="base"/>
            <a:r>
              <a:rPr lang="en-US" sz="1200" dirty="0"/>
              <a:t>Never provide unsafe recommendations.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r>
              <a:rPr lang="en-US" b="1" dirty="0"/>
              <a:t>The proposed solution is an AI-powered Smart Farming Advice Agent developed using IBM Watsonx AI, IBM Granite Model, and Langflow with Retrieval-Augmented Generation (RAG) technology.</a:t>
            </a:r>
          </a:p>
          <a:p>
            <a:r>
              <a:rPr lang="en-US" b="1" dirty="0"/>
              <a:t>The system assists small-scale farmers by providing accurate and personalized agricultural guidance. Agricultural documents containing information about crop cultivation, soil management, fertilizers, pest control, irrigation methods, and farming best practices are uploaded into the system as a knowledge base.</a:t>
            </a:r>
          </a:p>
          <a:p>
            <a:r>
              <a:rPr lang="en-US" b="1" dirty="0"/>
              <a:t>When a farmer asks a question, the RAG pipeline retrieves relevant information from the uploaded agricultural documents and provides context to the IBM Granite model. The model then generates clear, reliable, and farmer-friendly responses based on the retrieved information.</a:t>
            </a:r>
          </a:p>
          <a:p>
            <a:endParaRPr lang="en-US" b="1" dirty="0"/>
          </a:p>
          <a:p>
            <a:r>
              <a:rPr lang="en-US" b="1" dirty="0"/>
              <a:t>The Smart Farming Advice Agent can help farmers with:</a:t>
            </a:r>
          </a:p>
          <a:p>
            <a:endParaRPr lang="en-US" b="1" dirty="0"/>
          </a:p>
          <a:p>
            <a:r>
              <a:rPr lang="en-US" b="1" dirty="0"/>
              <a:t>- Crop selection recommendations</a:t>
            </a:r>
          </a:p>
          <a:p>
            <a:r>
              <a:rPr lang="en-US" b="1" dirty="0"/>
              <a:t>- Soil health management</a:t>
            </a:r>
          </a:p>
          <a:p>
            <a:r>
              <a:rPr lang="en-US" b="1" dirty="0"/>
              <a:t>- Fertilizer suggestions</a:t>
            </a:r>
          </a:p>
          <a:p>
            <a:r>
              <a:rPr lang="en-US" b="1" dirty="0"/>
              <a:t>- Pest and disease control measures</a:t>
            </a:r>
          </a:p>
          <a:p>
            <a:r>
              <a:rPr lang="en-US" b="1" dirty="0"/>
              <a:t>- Irrigation guidance</a:t>
            </a:r>
          </a:p>
          <a:p>
            <a:r>
              <a:rPr lang="en-US" b="1" dirty="0"/>
              <a:t>- Harvesting recommendations</a:t>
            </a:r>
          </a:p>
          <a:p>
            <a:r>
              <a:rPr lang="en-US" b="1" dirty="0"/>
              <a:t>- General farming best practices</a:t>
            </a:r>
          </a:p>
          <a:p>
            <a:endParaRPr lang="en-US" b="1" dirty="0"/>
          </a:p>
          <a:p>
            <a:r>
              <a:rPr lang="en-US" b="1" dirty="0"/>
              <a:t>The solution enables farmers to make informed decisions, improve crop productivity, reduce farming risks, and increase overall agricultural income. By combining IBM Watsonx AI, Granite models, Langflow, and RAG technology, the system delivers trustworthy, data-driven farming advice in an easy-to-use conversational interface.</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1" y="704088"/>
            <a:ext cx="9207025" cy="461665"/>
          </a:xfrm>
          <a:prstGeom prst="rect">
            <a:avLst/>
          </a:prstGeom>
          <a:noFill/>
        </p:spPr>
        <p:txBody>
          <a:bodyPr wrap="square" rtlCol="0">
            <a:spAutoFit/>
          </a:bodyPr>
          <a:lstStyle/>
          <a:p>
            <a:r>
              <a:rPr lang="en-US" sz="2400" b="1" dirty="0"/>
              <a:t>Proposed Solution – AI Agent for Smart Farming Advice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crop production dataset for analysis and tracking.</a:t>
            </a:r>
          </a:p>
          <a:p>
            <a:endParaRPr lang="en-US" dirty="0"/>
          </a:p>
          <a:p>
            <a:endParaRPr lang="en-US" dirty="0"/>
          </a:p>
          <a:p>
            <a:r>
              <a:rPr lang="en-US" dirty="0"/>
              <a:t>6) </a:t>
            </a:r>
            <a:r>
              <a:rPr lang="en-US" b="1" dirty="0"/>
              <a:t>Prompt template </a:t>
            </a:r>
            <a:r>
              <a:rPr lang="en-US" dirty="0"/>
              <a:t>– It takes document ,question and template of the given document .</a:t>
            </a:r>
          </a:p>
          <a:p>
            <a:r>
              <a:rPr lang="en-US" dirty="0"/>
              <a:t>Document is connected to read file and the prompt is connected to System message in language model</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rcRect/>
          <a:stretch/>
        </p:blipFill>
        <p:spPr>
          <a:xfrm>
            <a:off x="464439" y="1112123"/>
            <a:ext cx="11469656" cy="5453085"/>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323987"/>
          </a:xfrm>
          <a:prstGeom prst="rect">
            <a:avLst/>
          </a:prstGeom>
          <a:noFill/>
        </p:spPr>
        <p:txBody>
          <a:bodyPr wrap="square" rtlCol="0">
            <a:spAutoFit/>
          </a:bodyPr>
          <a:lstStyle/>
          <a:p>
            <a:r>
              <a:rPr lang="en-US" b="1" dirty="0"/>
              <a:t>Role of Agentic AI in Smart Farming Advisor</a:t>
            </a:r>
          </a:p>
          <a:p>
            <a:r>
              <a:rPr lang="en-US" b="1" dirty="0"/>
              <a:t>Agentic AI</a:t>
            </a:r>
            <a:r>
              <a:rPr lang="en-US" dirty="0"/>
              <a:t> enables the Smart Farming Advisor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Smart Farming Advice.</a:t>
            </a:r>
          </a:p>
          <a:p>
            <a:r>
              <a:rPr lang="en-US" dirty="0"/>
              <a:t>Agentic AI acts as an intelligent farming assistant that understands farmer queries, retrieves relevant information from agricultural documents using RAG, and provides personalized recommendations.</a:t>
            </a:r>
          </a:p>
          <a:p>
            <a:r>
              <a:rPr lang="en-US" dirty="0"/>
              <a:t>It helps farmers by:</a:t>
            </a:r>
          </a:p>
          <a:p>
            <a:r>
              <a:rPr lang="en-US" dirty="0"/>
              <a:t>- Understanding farming problems</a:t>
            </a:r>
          </a:p>
          <a:p>
            <a:r>
              <a:rPr lang="en-US" dirty="0"/>
              <a:t>- Retrieving relevant agricultural knowledge</a:t>
            </a:r>
          </a:p>
          <a:p>
            <a:r>
              <a:rPr lang="en-US" dirty="0"/>
              <a:t>- Suggesting suitable crops and fertilizers</a:t>
            </a:r>
          </a:p>
          <a:p>
            <a:r>
              <a:rPr lang="en-US" dirty="0"/>
              <a:t>- Providing pest and irrigation guidance</a:t>
            </a:r>
          </a:p>
          <a:p>
            <a:r>
              <a:rPr lang="en-US" dirty="0"/>
              <a:t>- Delivering accurate and practical farming advice</a:t>
            </a:r>
          </a:p>
          <a:p>
            <a:r>
              <a:rPr lang="en-US" dirty="0"/>
              <a:t>This enables farmers to make informed decisions, improve crop yield, and reduce farming risks.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678204"/>
          </a:xfrm>
          <a:prstGeom prst="rect">
            <a:avLst/>
          </a:prstGeom>
          <a:noFill/>
        </p:spPr>
        <p:txBody>
          <a:bodyPr wrap="square" rtlCol="0">
            <a:spAutoFit/>
          </a:bodyPr>
          <a:lstStyle/>
          <a:p>
            <a:pPr marL="285750" indent="-285750">
              <a:buFont typeface="Arial" panose="020B0604020202020204" pitchFamily="34" charset="0"/>
              <a:buChar char="•"/>
            </a:pPr>
            <a:r>
              <a:rPr lang="en-US" sz="1800" b="1" dirty="0"/>
              <a:t>Langflow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Smart Farming Advisor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Smart Farming Advisor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888980" cy="2893100"/>
          </a:xfrm>
          <a:prstGeom prst="rect">
            <a:avLst/>
          </a:prstGeom>
          <a:noFill/>
        </p:spPr>
        <p:txBody>
          <a:bodyPr wrap="square" rtlCol="0">
            <a:spAutoFit/>
          </a:bodyPr>
          <a:lstStyle/>
          <a:p>
            <a:r>
              <a:rPr lang="en-US" dirty="0"/>
              <a:t>The Smart Farming Advice Agent combines Agentic AI, RAG, IBM Granite Models, and agricultural knowledge sources to provide accurate and context-aware farming recommendations.</a:t>
            </a:r>
          </a:p>
          <a:p>
            <a:endParaRPr lang="en-US" dirty="0"/>
          </a:p>
          <a:p>
            <a:r>
              <a:rPr lang="en-US" dirty="0"/>
              <a:t>Key unique features include:</a:t>
            </a:r>
          </a:p>
          <a:p>
            <a:endParaRPr lang="en-US" dirty="0"/>
          </a:p>
          <a:p>
            <a:r>
              <a:rPr lang="en-US" dirty="0"/>
              <a:t>- Personalized farming advice based on farmer queries.</a:t>
            </a:r>
          </a:p>
          <a:p>
            <a:r>
              <a:rPr lang="en-US" dirty="0"/>
              <a:t>- Retrieval of information from agricultural documents using RAG.</a:t>
            </a:r>
          </a:p>
          <a:p>
            <a:r>
              <a:rPr lang="en-US" dirty="0"/>
              <a:t>- AI-powered recommendations for crops, fertilizers, and pest control.</a:t>
            </a:r>
          </a:p>
          <a:p>
            <a:r>
              <a:rPr lang="en-US" dirty="0"/>
              <a:t>- Simple conversational interface for easy farmer interaction.</a:t>
            </a:r>
          </a:p>
          <a:p>
            <a:r>
              <a:rPr lang="en-US" dirty="0"/>
              <a:t>- Reliable and data-driven guidance instead of generic responses.</a:t>
            </a:r>
          </a:p>
          <a:p>
            <a:endParaRPr lang="en-US" dirty="0"/>
          </a:p>
          <a:p>
            <a:r>
              <a:rPr lang="en-US" dirty="0"/>
              <a:t>This solution bridges the knowledge gap between agricultural experts and small-scale farmers, making smart farming support accessible and affordable.</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https://github.com/pradhameshyerubandi/Smart_Farming_Advisor</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967436" cy="4592022"/>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200" b="1" dirty="0">
                <a:latin typeface="Times New Roman"/>
                <a:ea typeface="Times New Roman"/>
                <a:cs typeface="Times New Roman"/>
                <a:sym typeface="Times New Roman"/>
              </a:rPr>
              <a:t>1. Integration with Real-Time Weather Forecasting Services</a:t>
            </a:r>
          </a:p>
          <a:p>
            <a:pPr lvl="0">
              <a:lnSpc>
                <a:spcPct val="162162"/>
              </a:lnSpc>
              <a:buClr>
                <a:srgbClr val="2B3541"/>
              </a:buClr>
              <a:buSzPts val="1850"/>
            </a:pPr>
            <a:r>
              <a:rPr lang="en-US" sz="1200" dirty="0">
                <a:latin typeface="Times New Roman"/>
                <a:ea typeface="Times New Roman"/>
                <a:cs typeface="Times New Roman"/>
                <a:sym typeface="Times New Roman"/>
              </a:rPr>
              <a:t>The system can be connected to weather APIs to provide farmers with real-time weather updates, helping them make better decisions regarding irrigation, sowing, and harvesting.</a:t>
            </a:r>
          </a:p>
          <a:p>
            <a:pPr lvl="0">
              <a:lnSpc>
                <a:spcPct val="162162"/>
              </a:lnSpc>
              <a:buClr>
                <a:srgbClr val="2B3541"/>
              </a:buClr>
              <a:buSzPts val="1850"/>
            </a:pPr>
            <a:r>
              <a:rPr lang="en-US" sz="1200" b="1" dirty="0">
                <a:latin typeface="Times New Roman"/>
                <a:ea typeface="Times New Roman"/>
                <a:cs typeface="Times New Roman"/>
                <a:sym typeface="Times New Roman"/>
              </a:rPr>
              <a:t>2. Support for Multiple Regional and Local Languages</a:t>
            </a:r>
          </a:p>
          <a:p>
            <a:pPr lvl="0">
              <a:lnSpc>
                <a:spcPct val="162162"/>
              </a:lnSpc>
              <a:buClr>
                <a:srgbClr val="2B3541"/>
              </a:buClr>
              <a:buSzPts val="1850"/>
            </a:pPr>
            <a:r>
              <a:rPr lang="en-US" sz="1200" dirty="0">
                <a:latin typeface="Times New Roman"/>
                <a:ea typeface="Times New Roman"/>
                <a:cs typeface="Times New Roman"/>
                <a:sym typeface="Times New Roman"/>
              </a:rPr>
              <a:t>The agent can be enhanced to support various regional languages, making it more accessible and user-friendly for farmers across different regions.</a:t>
            </a:r>
          </a:p>
          <a:p>
            <a:pPr lvl="0">
              <a:lnSpc>
                <a:spcPct val="162162"/>
              </a:lnSpc>
              <a:buClr>
                <a:srgbClr val="2B3541"/>
              </a:buClr>
              <a:buSzPts val="1850"/>
            </a:pPr>
            <a:r>
              <a:rPr lang="en-US" sz="1200" b="1" dirty="0">
                <a:latin typeface="Times New Roman"/>
                <a:ea typeface="Times New Roman"/>
                <a:cs typeface="Times New Roman"/>
                <a:sym typeface="Times New Roman"/>
              </a:rPr>
              <a:t>3. Live Market Price Updates</a:t>
            </a:r>
          </a:p>
          <a:p>
            <a:pPr lvl="0">
              <a:lnSpc>
                <a:spcPct val="162162"/>
              </a:lnSpc>
              <a:buClr>
                <a:srgbClr val="2B3541"/>
              </a:buClr>
              <a:buSzPts val="1850"/>
            </a:pPr>
            <a:r>
              <a:rPr lang="en-US" sz="1200" dirty="0">
                <a:latin typeface="Times New Roman"/>
                <a:ea typeface="Times New Roman"/>
                <a:cs typeface="Times New Roman"/>
                <a:sym typeface="Times New Roman"/>
              </a:rPr>
              <a:t>The solution can provide real-time mandi and market prices for crops, enabling farmers to choose the best time and place to sell their produce.</a:t>
            </a:r>
          </a:p>
          <a:p>
            <a:pPr lvl="0">
              <a:lnSpc>
                <a:spcPct val="162162"/>
              </a:lnSpc>
              <a:buClr>
                <a:srgbClr val="2B3541"/>
              </a:buClr>
              <a:buSzPts val="1850"/>
            </a:pPr>
            <a:r>
              <a:rPr lang="en-US" sz="1200" b="1" dirty="0">
                <a:latin typeface="Times New Roman"/>
                <a:ea typeface="Times New Roman"/>
                <a:cs typeface="Times New Roman"/>
                <a:sym typeface="Times New Roman"/>
              </a:rPr>
              <a:t>4. Image-Based Crop Disease and Pest Detection</a:t>
            </a:r>
          </a:p>
          <a:p>
            <a:pPr lvl="0">
              <a:lnSpc>
                <a:spcPct val="162162"/>
              </a:lnSpc>
              <a:buClr>
                <a:srgbClr val="2B3541"/>
              </a:buClr>
              <a:buSzPts val="1850"/>
            </a:pPr>
            <a:r>
              <a:rPr lang="en-US" sz="1200" dirty="0">
                <a:latin typeface="Times New Roman"/>
                <a:ea typeface="Times New Roman"/>
                <a:cs typeface="Times New Roman"/>
                <a:sym typeface="Times New Roman"/>
              </a:rPr>
              <a:t>Farmers can upload images of crops, and AI can identify diseases or pests and suggest appropriate treatment measures.</a:t>
            </a:r>
          </a:p>
          <a:p>
            <a:pPr lvl="0">
              <a:lnSpc>
                <a:spcPct val="162162"/>
              </a:lnSpc>
              <a:buClr>
                <a:srgbClr val="2B3541"/>
              </a:buClr>
              <a:buSzPts val="1850"/>
            </a:pPr>
            <a:r>
              <a:rPr lang="en-US" sz="1200" b="1" dirty="0">
                <a:latin typeface="Times New Roman"/>
                <a:ea typeface="Times New Roman"/>
                <a:cs typeface="Times New Roman"/>
                <a:sym typeface="Times New Roman"/>
              </a:rPr>
              <a:t>5. Mobile Application Development</a:t>
            </a:r>
          </a:p>
          <a:p>
            <a:pPr lvl="0">
              <a:lnSpc>
                <a:spcPct val="162162"/>
              </a:lnSpc>
              <a:buClr>
                <a:srgbClr val="2B3541"/>
              </a:buClr>
              <a:buSzPts val="1850"/>
            </a:pPr>
            <a:r>
              <a:rPr lang="en-US" sz="1200" dirty="0">
                <a:latin typeface="Times New Roman"/>
                <a:ea typeface="Times New Roman"/>
                <a:cs typeface="Times New Roman"/>
                <a:sym typeface="Times New Roman"/>
              </a:rPr>
              <a:t>A dedicated mobile application can make the system easily accessible to farmers anytime and anywhere.</a:t>
            </a:r>
          </a:p>
          <a:p>
            <a:pPr lvl="0">
              <a:lnSpc>
                <a:spcPct val="162162"/>
              </a:lnSpc>
              <a:buClr>
                <a:srgbClr val="2B3541"/>
              </a:buClr>
              <a:buSzPts val="1850"/>
            </a:pPr>
            <a:r>
              <a:rPr lang="en-US" sz="1200" b="1" dirty="0">
                <a:latin typeface="Times New Roman"/>
                <a:ea typeface="Times New Roman"/>
                <a:cs typeface="Times New Roman"/>
                <a:sym typeface="Times New Roman"/>
              </a:rPr>
              <a:t>6. Personalized Recommendations Using Farm Data</a:t>
            </a:r>
          </a:p>
          <a:p>
            <a:pPr lvl="0">
              <a:lnSpc>
                <a:spcPct val="162162"/>
              </a:lnSpc>
              <a:buClr>
                <a:srgbClr val="2B3541"/>
              </a:buClr>
              <a:buSzPts val="1850"/>
            </a:pPr>
            <a:r>
              <a:rPr lang="en-US" sz="1200" dirty="0">
                <a:latin typeface="Times New Roman"/>
                <a:ea typeface="Times New Roman"/>
                <a:cs typeface="Times New Roman"/>
                <a:sym typeface="Times New Roman"/>
              </a:rPr>
              <a:t>The agent can use location, soil type, crop history, and weather conditions to provide highly customized farming advice.</a:t>
            </a:r>
          </a:p>
          <a:p>
            <a:pPr lvl="0">
              <a:lnSpc>
                <a:spcPct val="162162"/>
              </a:lnSpc>
              <a:buClr>
                <a:srgbClr val="2B3541"/>
              </a:buClr>
              <a:buSzPts val="1850"/>
            </a:pPr>
            <a:r>
              <a:rPr lang="en-US" sz="1200" b="1" dirty="0">
                <a:latin typeface="Times New Roman"/>
                <a:ea typeface="Times New Roman"/>
                <a:cs typeface="Times New Roman"/>
                <a:sym typeface="Times New Roman"/>
              </a:rPr>
              <a:t>7. Integration with Government Agricultural Schemes</a:t>
            </a:r>
          </a:p>
          <a:p>
            <a:pPr lvl="0">
              <a:lnSpc>
                <a:spcPct val="162162"/>
              </a:lnSpc>
              <a:buClr>
                <a:srgbClr val="2B3541"/>
              </a:buClr>
              <a:buSzPts val="1850"/>
            </a:pPr>
            <a:r>
              <a:rPr lang="en-US" sz="1200" dirty="0">
                <a:latin typeface="Times New Roman"/>
                <a:ea typeface="Times New Roman"/>
                <a:cs typeface="Times New Roman"/>
                <a:sym typeface="Times New Roman"/>
              </a:rPr>
              <a:t>The system can inform farmers about relevant government schemes, subsidies, loans, and support programs available to them.</a:t>
            </a:r>
            <a:endParaRPr sz="12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1205</TotalTime>
  <Words>1206</Words>
  <Application>Microsoft Office PowerPoint</Application>
  <PresentationFormat>Widescreen</PresentationFormat>
  <Paragraphs>149</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Y N PRADHAMESH YERUBANDI</cp:lastModifiedBy>
  <cp:revision>22</cp:revision>
  <dcterms:created xsi:type="dcterms:W3CDTF">2025-07-08T05:06:56Z</dcterms:created>
  <dcterms:modified xsi:type="dcterms:W3CDTF">2026-06-12T14:20:37Z</dcterms:modified>
</cp:coreProperties>
</file>